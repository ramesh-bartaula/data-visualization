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LiHcyaOjtZbQymAZnXq3j89Pv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504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365750" y="13851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eorg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Heart Disease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25622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7E8D1"/>
                </a:solidFill>
                <a:latin typeface="Calibri"/>
                <a:ea typeface="Calibri"/>
                <a:cs typeface="Calibri"/>
                <a:sym typeface="Calibri"/>
              </a:rPr>
              <a:t>Risk Factors: A Visual Narrative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50" y="2388875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Data Analysis for State Health Department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81700" y="2911500"/>
            <a:ext cx="1828800" cy="1188600"/>
          </a:xfrm>
          <a:prstGeom prst="roundRect">
            <a:avLst>
              <a:gd fmla="val 16667" name="adj"/>
            </a:avLst>
          </a:prstGeom>
          <a:solidFill>
            <a:srgbClr val="E7E8D1"/>
          </a:solidFill>
          <a:ln cap="flat" cmpd="sng" w="25400">
            <a:solidFill>
              <a:srgbClr val="A7BE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81700" y="299424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918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81700" y="350586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Records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452320" y="2911438"/>
            <a:ext cx="1828800" cy="1188600"/>
          </a:xfrm>
          <a:prstGeom prst="roundRect">
            <a:avLst>
              <a:gd fmla="val 16667" name="adj"/>
            </a:avLst>
          </a:prstGeom>
          <a:solidFill>
            <a:srgbClr val="E7E8D1"/>
          </a:solidFill>
          <a:ln cap="flat" cmpd="sng" w="25400">
            <a:solidFill>
              <a:srgbClr val="A7BE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452320" y="29942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452320" y="3567135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622940" y="2909963"/>
            <a:ext cx="1828800" cy="1188600"/>
          </a:xfrm>
          <a:prstGeom prst="roundRect">
            <a:avLst>
              <a:gd fmla="val 16667" name="adj"/>
            </a:avLst>
          </a:prstGeom>
          <a:solidFill>
            <a:srgbClr val="E7E8D1"/>
          </a:solidFill>
          <a:ln cap="flat" cmpd="sng" w="25400">
            <a:solidFill>
              <a:srgbClr val="A7BE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622940" y="29942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55.3%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622940" y="3567135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Prevalence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766560" y="2909963"/>
            <a:ext cx="1828800" cy="1188600"/>
          </a:xfrm>
          <a:prstGeom prst="roundRect">
            <a:avLst>
              <a:gd fmla="val 16667" name="adj"/>
            </a:avLst>
          </a:prstGeom>
          <a:solidFill>
            <a:srgbClr val="E7E8D1"/>
          </a:solidFill>
          <a:ln cap="flat" cmpd="sng" w="25400">
            <a:solidFill>
              <a:srgbClr val="A7BE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766560" y="29942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28-77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793585" y="3567135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Age Range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Distribution of Heart Disease by Age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Key Finding: Younger patients (30–35) show fewer cases. Risk rises sharply from age 50, peaking at 55–65.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age2.png"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97265"/>
            <a:ext cx="8778240" cy="397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Distribution of Heart Disease by Gender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Key Finding: Males make up 90.2% of patients and show nearly 10 times positive heart disease rate compared to females.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age3.png" id="48" name="Google Shape;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97265"/>
            <a:ext cx="8778240" cy="397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Which Factors Predict Heart Disease?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Key Finding: ST Slope (0.55) is the strongest predictor. Cholesterol (0.08) &amp; Resting ECG (0.06) show very weak correlation.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age1.png" id="57" name="Google Shape;5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97265"/>
            <a:ext cx="8778240" cy="3977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Heart Disease Risk by Chest Pain Type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Paradox: Asymptomatic (Type 4) — patients feeling NO chest pain — have the highest heart disease rate: 374 of 496 cases (75.5%).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age5.png" id="66" name="Google Shape;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234440"/>
            <a:ext cx="8778240" cy="397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Max Heart Rate by Heart Disease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57200" y="708653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Key Finding: Heart disease patients average 127.7 bpm vs 148.2 bpm for healthy patients — a 20.5 bpm difference (r = −0.40).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age4.png" id="75" name="Google Shape;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28740"/>
            <a:ext cx="8778240" cy="3977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Insights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20040" y="914400"/>
            <a:ext cx="2743200" cy="1737360"/>
          </a:xfrm>
          <a:prstGeom prst="roundRect">
            <a:avLst>
              <a:gd fmla="val 16667" name="adj"/>
            </a:avLst>
          </a:prstGeom>
          <a:solidFill>
            <a:srgbClr val="E7E8D1"/>
          </a:solidFill>
          <a:ln cap="flat" cmpd="sng" w="254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502920" y="105156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🚨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1188720" y="10515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Silent Danger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502920" y="1508760"/>
            <a:ext cx="2377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75.5% of asymptomatic patients (type-4) have disease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3246120" y="914400"/>
            <a:ext cx="2743200" cy="1737360"/>
          </a:xfrm>
          <a:prstGeom prst="roundRect">
            <a:avLst>
              <a:gd fmla="val 16667" name="adj"/>
            </a:avLst>
          </a:prstGeom>
          <a:solidFill>
            <a:srgbClr val="E7E8D1"/>
          </a:solidFill>
          <a:ln cap="flat" cmpd="sng" w="254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3429000" y="105156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4114800" y="10515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Age Critical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3429000" y="1508760"/>
            <a:ext cx="2377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Risk peaks at 55–65 years old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6172200" y="914400"/>
            <a:ext cx="2743200" cy="1737360"/>
          </a:xfrm>
          <a:prstGeom prst="roundRect">
            <a:avLst>
              <a:gd fmla="val 16667" name="adj"/>
            </a:avLst>
          </a:prstGeom>
          <a:solidFill>
            <a:srgbClr val="E7E8D1"/>
          </a:solidFill>
          <a:ln cap="flat" cmpd="sng" w="254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6355080" y="105156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🏃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7040880" y="10515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Exercise Metrics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355080" y="1508760"/>
            <a:ext cx="2377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 Slope (0.55) &amp; Exercise Anigna (0.5)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320040" y="2926080"/>
            <a:ext cx="2743200" cy="1737360"/>
          </a:xfrm>
          <a:prstGeom prst="roundRect">
            <a:avLst>
              <a:gd fmla="val 16667" name="adj"/>
            </a:avLst>
          </a:prstGeom>
          <a:solidFill>
            <a:srgbClr val="E7E8D1"/>
          </a:solidFill>
          <a:ln cap="flat" cmpd="sng" w="254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502920" y="30632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👨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1188720" y="306324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Gender Matters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02920" y="3520440"/>
            <a:ext cx="2377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Males: 90.2% | Females: 9.8% disease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3246120" y="2926080"/>
            <a:ext cx="2743200" cy="1737360"/>
          </a:xfrm>
          <a:prstGeom prst="roundRect">
            <a:avLst>
              <a:gd fmla="val 16667" name="adj"/>
            </a:avLst>
          </a:prstGeom>
          <a:solidFill>
            <a:srgbClr val="E7E8D1"/>
          </a:solidFill>
          <a:ln cap="flat" cmpd="sng" w="254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3429000" y="30632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💓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114800" y="306324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Heart Rate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3429000" y="3520440"/>
            <a:ext cx="2377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Negative correlation (-0.4) with disease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172200" y="2926080"/>
            <a:ext cx="2743200" cy="1737360"/>
          </a:xfrm>
          <a:prstGeom prst="roundRect">
            <a:avLst>
              <a:gd fmla="val 16667" name="adj"/>
            </a:avLst>
          </a:prstGeom>
          <a:solidFill>
            <a:srgbClr val="E7E8D1"/>
          </a:solidFill>
          <a:ln cap="flat" cmpd="sng" w="254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6355080" y="30632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7040880" y="306324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Data Quality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355080" y="3520440"/>
            <a:ext cx="2377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22.9% records required cleaning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504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 &amp; Next Steps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57200" y="1188720"/>
            <a:ext cx="8229600" cy="1737360"/>
          </a:xfrm>
          <a:prstGeom prst="roundRect">
            <a:avLst>
              <a:gd fmla="val 16667" name="adj"/>
            </a:avLst>
          </a:prstGeom>
          <a:solidFill>
            <a:srgbClr val="E7E8D1"/>
          </a:solidFill>
          <a:ln cap="flat" cmpd="sng" w="25400">
            <a:solidFill>
              <a:srgbClr val="A7BE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640080" y="132588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What We Achieved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731520" y="1645920"/>
            <a:ext cx="7680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✓ Cleaned dataset from 1,190 → 918 records by identifying medically implausible values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731520" y="1901952"/>
            <a:ext cx="7680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✓ Identified the "Symptom Paradox" — asymptomatic patients carry highest disease burden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731520" y="2157984"/>
            <a:ext cx="7680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✓ Established exercise-based metrics (ST Slope, Max HR) as most reliable indicators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731520" y="2414016"/>
            <a:ext cx="7680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✓ Demonstrated gender and age as consistent demographic risk stratifiers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1" lang="en-U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Next Steps: Build predictive ML model | Create interactive health dashboards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57200" y="5943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600"/>
              <a:buFont typeface="Georgia"/>
              <a:buNone/>
            </a:pPr>
            <a:r>
              <a:rPr b="1" i="1" lang="en-US" sz="1600">
                <a:solidFill>
                  <a:srgbClr val="E7E8D1"/>
                </a:solidFill>
                <a:latin typeface="Georgia"/>
                <a:ea typeface="Georgia"/>
                <a:cs typeface="Georgia"/>
                <a:sym typeface="Georgia"/>
              </a:rPr>
              <a:t>Heart disease is preventable. Data-driven awareness saves lives.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2026-04-29T19:31:50Z</dcterms:created>
  <dc:creator>PptxGenJS</dc:creator>
</cp:coreProperties>
</file>