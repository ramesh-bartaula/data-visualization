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NnQd2//KV++G8gB3L4nNnxt2J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338328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02920" y="4572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Heart Disease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1417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Risk Factors: A Visual Narrative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2148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Exploring Clinical Predictors Through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3566160"/>
            <a:ext cx="1920240" cy="12801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02920" y="3611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1,190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42245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Raw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606040" y="3566160"/>
            <a:ext cx="1920240" cy="12801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606040" y="3611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918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606040" y="42245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Cleaned Records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9160" y="3566160"/>
            <a:ext cx="1920240" cy="12801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709160" y="3611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709160" y="42245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Clinical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812280" y="3566160"/>
            <a:ext cx="1920240" cy="128016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812280" y="361188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55.3%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812280" y="4224528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Heart Disease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Source: Kaggle — Heart Disease Dataset (Hosam Mohamed Ali) | UCI ML Repository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About the Dataset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74320" y="960120"/>
            <a:ext cx="91440" cy="3840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2920" y="1078992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Dataset Background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2920" y="1481328"/>
            <a:ext cx="374904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This dataset contains </a:t>
            </a: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1,190 clinical records</a:t>
            </a: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consolidated from five major heart disease databases:</a:t>
            </a:r>
            <a:b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Cleveland  •  Hungary  •  Switzerland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Long Beach VA  •  Stalog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Originally hosted by the UCI Machine Learning Repository, this combined dataset provides broad population coverage across different geographies and clinical settings.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target variable indicates: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= Heart Disease Present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 = No Heart Disease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663440" y="960120"/>
            <a:ext cx="91440" cy="3840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892040" y="10789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Key Clinical Variables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00600" y="150876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846320" y="1508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217920" y="15087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 – 77 years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800600" y="182880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46320" y="18288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17920" y="18288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Male (76%) / Female (24%)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00600" y="214884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846320" y="21488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Chest Pain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217920" y="21488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types (Typical to Asymptomatic)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800600" y="246888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846320" y="2468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Resting BP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17920" y="24688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Resting blood pressure (mm Hg)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800600" y="278892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846320" y="27889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Cholesterol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217920" y="27889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Serum cholesterol (mg/dl)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800600" y="310896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846320" y="31089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Max Heart 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217920" y="31089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Max HR achieved during exercise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800600" y="342900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846320" y="34290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Exercise Angina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217920" y="34290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Chest pain during exercise (Y/N)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800600" y="374904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846320" y="3749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 Slope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217920" y="37490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Slope of peak exercise ST segment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800600" y="4069080"/>
            <a:ext cx="3931920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4846320" y="40690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Oldpeak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217920" y="40690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 depression induced by exercise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800600" y="4389120"/>
            <a:ext cx="3931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4846320" y="43891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217920" y="43891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Heart Disease Diagnosis (0/1)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Cleaning Process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4320" y="91440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274320" y="914400"/>
            <a:ext cx="420624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11480" y="10241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Zero-Value Cholesterol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11480" y="13898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11480" y="157276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172 out of 1,190 records (14.5%) had cholesterol = 0, which is physiologically impossible.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11480" y="20116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11480" y="21945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Rows with zero cholesterol were identified and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replaced with median value as data was of wide range (mean wouldn’t be best 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fitting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709160" y="91440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709160" y="914400"/>
            <a:ext cx="42062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846320" y="102412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Zero Resting Blood Pressure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846320" y="13898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846320" y="157276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 record had resting BP = 0, which is clinically impossible in a living patient.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846320" y="201168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846320" y="21945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single zero-BP record was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replaced by overall mean</a:t>
            </a: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74320" y="288036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74320" y="2880360"/>
            <a:ext cx="42062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11480" y="299008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No Explicit Null Values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11480" y="33558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11480" y="35387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 12 columns reported 0 null values in the raw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11480" y="41605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709160" y="288036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4709160" y="2880360"/>
            <a:ext cx="420624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846320" y="299008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Duplicate Records 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846320" y="33558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846320" y="35387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Consolidated dataset from 5 sources risked duplicates across databases.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846320" y="39776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846320" y="41605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Duplicate rows were checked and removed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274325" y="4709100"/>
            <a:ext cx="859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Result: Dataset reduced from 1,190 → 918 records  |  272 rows removed (22.9%)  |  All remaining values are clinically valid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Distribution of Heart Disease by 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731530"/>
            <a:ext cx="8229600" cy="393191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Younger patients (30–35) show fewer heart disease cases. Risk rises sharply from age 50, peaking at 55–65.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Distribution of Heart Disease Patient by Gender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Males make up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90.2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 of patients and show nearly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times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heart disease rate compared to females.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 title="GRAPH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6400" y="862140"/>
            <a:ext cx="4128278" cy="3581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Which Factors Predict Heart Disease?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325" y="777250"/>
            <a:ext cx="7289599" cy="393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 Slope (0.55) is the strongest predictor. Cholesterol (0.08) &amp; Resting ECG (0.06) show very weak correlation.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Heart Disease Risk by Chest Pain Type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Paradox:  </a:t>
            </a:r>
            <a:r>
              <a:rPr b="0" i="0" lang="en-US" sz="1200" u="none" cap="none" strike="noStrike">
                <a:solidFill>
                  <a:srgbClr val="FEE2E2"/>
                </a:solidFill>
                <a:latin typeface="Calibri"/>
                <a:ea typeface="Calibri"/>
                <a:cs typeface="Calibri"/>
                <a:sym typeface="Calibri"/>
              </a:rPr>
              <a:t>Asymptomatic (Type 4) — patients feeling NO chest pain — have the highest heart disease rate: 374 of 496 cases (75.5%).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7" title="Screenshot 2026-04-13 at 8.13.2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100" y="781050"/>
            <a:ext cx="7133774" cy="38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Max Heart Rate Distribution by Heart Disease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525" y="731530"/>
            <a:ext cx="7315199" cy="393191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Heart disease patients average 127.7 bpm vs 148.2 bpm for healthy patients — a 20.5 bpm difference (correlation: −0.40).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Insights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What the data tells us about heart disease risk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20040" y="141732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320040" y="1417320"/>
            <a:ext cx="274320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429768" y="150876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29768" y="18745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Silent Danger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29768" y="220370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75.5% of asymptomatic patients (those feeling NO chest pain) were diagnosed with heart disease — the highest rate of any group.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200400" y="141732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3200400" y="141732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310128" y="1508760"/>
            <a:ext cx="502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3310128" y="18745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 is a Critical Factor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310128" y="220370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Risk accelerates sharply after age 50, peaking at 55–65.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080760" y="141732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080760" y="1417320"/>
            <a:ext cx="27432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190488" y="150876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190488" y="18745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Exercise Reveals the Truth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190488" y="220370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 Slope and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Exercise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angina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are the top predictors.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20040" y="310896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320040" y="3108960"/>
            <a:ext cx="274320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429768" y="320040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60A5FA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29768" y="35661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Gender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29768" y="389534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Male patients show nearly twice the heart disease rate. 59.4% of males were positive versus 40.1% of females.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200400" y="310896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3200400" y="3108960"/>
            <a:ext cx="27432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310128" y="320040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A78BFA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310128" y="35661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 Heart Rate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310128" y="389534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Heart Rate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had the lowest correlation with diagnosis (-0.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080760" y="3108960"/>
            <a:ext cx="2743200" cy="1554480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6080760" y="3108960"/>
            <a:ext cx="27432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190488" y="3200400"/>
            <a:ext cx="502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34D399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190488" y="356616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 is Critical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190488" y="3895344"/>
            <a:ext cx="25603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22.9% of records were invalid (zero cholesterol, zero BP). Domain knowledge, not just null checks, is essential for medical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 &amp; Next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274320" y="1051560"/>
            <a:ext cx="4846320" cy="374904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457200" y="1143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What We Achieved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11480" y="164592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Cleaned a real-world clinical dataset from 1,190 → 918 records by identifying medically implausible zero-values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11480" y="2231136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Identified the "Symptom Paradox" — asymptomatic patients carry the highest disease burden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11480" y="2816352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Established that exercise-based metrics (ST Slope, Max HR) are the most reliable visual indicators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411480" y="3401568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Demonstrated gender and age as consistent demographic risk stratifiers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11480" y="3986784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349240" y="1051560"/>
            <a:ext cx="3520440" cy="3749040"/>
          </a:xfrm>
          <a:prstGeom prst="rect">
            <a:avLst/>
          </a:pr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5532120" y="11430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0D9488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532120" y="1600200"/>
            <a:ext cx="34747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532120" y="16002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5943600" y="16002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Build predictive ML model using the top correlated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5532120" y="2221992"/>
            <a:ext cx="34747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532120" y="22219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943600" y="2221992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Create interactive dashboards for public health educators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943600" y="2843784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943600" y="3465576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943600" y="4087368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Georgia"/>
              <a:buNone/>
            </a:pPr>
            <a:r>
              <a:rPr b="0" i="1" lang="en-US" sz="13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Heart disease is preventable. Data-driven awareness saves lives.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2026-04-13T02:00:37Z</dcterms:created>
  <dc:creator>PptxGenJS</dc:creator>
</cp:coreProperties>
</file>